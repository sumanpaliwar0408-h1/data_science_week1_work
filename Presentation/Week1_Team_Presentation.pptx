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81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WEINTERN  •  DATA SCIENCE INTERNSHIP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52760" y="182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90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73152"/>
            <a:ext cx="4325112" cy="6784848"/>
          </a:xfrm>
          <a:prstGeom prst="rect">
            <a:avLst/>
          </a:prstGeom>
          <a:solidFill>
            <a:srgbClr val="101A2A"/>
          </a:solidFill>
          <a:ln w="12700">
            <a:solidFill>
              <a:srgbClr val="101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321040" y="914400"/>
            <a:ext cx="3200400" cy="3200400"/>
          </a:xfrm>
          <a:prstGeom prst="arc">
            <a:avLst/>
          </a:prstGeom>
          <a:solidFill>
            <a:srgbClr val="2F81F7">
              <a:alpha val="35000"/>
            </a:srgbClr>
          </a:solidFill>
          <a:ln w="12700">
            <a:solidFill>
              <a:srgbClr val="2F81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9326880" y="2743200"/>
            <a:ext cx="2103120" cy="2103120"/>
          </a:xfrm>
          <a:prstGeom prst="arc">
            <a:avLst/>
          </a:prstGeom>
          <a:solidFill>
            <a:srgbClr val="53D3D1">
              <a:alpha val="28000"/>
            </a:srgbClr>
          </a:solidFill>
          <a:ln w="12700">
            <a:solidFill>
              <a:srgbClr val="53D3D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2F81F7">
              <a:alpha val="18000"/>
            </a:srgbClr>
          </a:solidFill>
          <a:ln w="12700">
            <a:solidFill>
              <a:srgbClr val="2F81F7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7043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EBFF"/>
                </a:solidFill>
              </a:rPr>
              <a:t>WEEK 1 • FINAL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858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Analysis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Visualization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58368" y="40690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4C3"/>
                </a:solidFill>
              </a:rPr>
              <a:t>From raw data quality checks to evidence-based business insights and a Power BI dashboard.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5897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DA3"/>
                </a:solidFill>
              </a:rPr>
              <a:t>WeIntern Pvt Ltd  •  Python  •  Pandas  •  Jupyter Notebook  •  Power BI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 in one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Three connected tasks, one end-to-end analytical workflow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D3D1"/>
                </a:solidFill>
              </a:rPr>
              <a:t>01  Clean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Customer Shopping Behavior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3,900 raw rows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Nulls • duplicates • validation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Cleaned dataset saved separately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64592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1F7"/>
                </a:solidFill>
              </a:rPr>
              <a:t>02  Analyze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3484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Sample Superstore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3383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5,009 unique orders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34840" y="4160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KPIs • trends • customers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Regions • categories • products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26680" y="164592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0100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</a:rPr>
              <a:t>03  Visualize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0100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Power BI Dashboard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01000" y="3383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1-page dashboard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01000" y="4160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Bar • line • pie • KPI cards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Filters + business interpretations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94760" y="3337560"/>
            <a:ext cx="32004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60920" y="3337560"/>
            <a:ext cx="32004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234440" y="5623560"/>
            <a:ext cx="9692640" cy="658368"/>
          </a:xfrm>
          <a:prstGeom prst="roundRect">
            <a:avLst>
              <a:gd name="adj" fmla="val 6944"/>
            </a:avLst>
          </a:prstGeom>
          <a:solidFill>
            <a:srgbClr val="172131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99032" y="5788152"/>
            <a:ext cx="45720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5806440"/>
            <a:ext cx="9162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The key discipline throughout: use the correct data grain, document decisions, and separate observations from recommendations.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 — cleaning before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Customer Shopping Behavior dataset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673352"/>
            <a:ext cx="54864" cy="905256"/>
          </a:xfrm>
          <a:prstGeom prst="rect">
            <a:avLst/>
          </a:prstGeom>
          <a:solidFill>
            <a:srgbClr val="53D3D1"/>
          </a:solidFill>
          <a:ln w="12700">
            <a:solidFill>
              <a:srgbClr val="53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RAW 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23544" y="19933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3,900 × 18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3544" y="2423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rows × columns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5304" y="1673352"/>
            <a:ext cx="54864" cy="9052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MISSING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58184" y="19933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37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58184" y="2423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Review Rating • 0.95%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9944" y="1673352"/>
            <a:ext cx="54864" cy="905256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2824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DUPLICATES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92824" y="19933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92824" y="2423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fully duplicated rows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98280" y="15087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4584" y="1673352"/>
            <a:ext cx="54864" cy="905256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7464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CLEAN OUTPUT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427464" y="19933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3,900 × 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27464" y="2423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0 missing values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154680"/>
            <a:ext cx="11018520" cy="2240280"/>
          </a:xfrm>
          <a:prstGeom prst="roundRect">
            <a:avLst>
              <a:gd name="adj" fmla="val 2857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3429000"/>
            <a:ext cx="102870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4F7FB"/>
                </a:solidFill>
              </a:rPr>
              <a:t>Imputed missing Review Rating using the median within each product category.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4F7FB"/>
                </a:solidFill>
              </a:rPr>
              <a:t>Standardized column names to lowercase snake_case.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4F7FB"/>
                </a:solidFill>
              </a:rPr>
              <a:t>Created age_group and purchase_frequency_days for downstream analysis.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4F7FB"/>
                </a:solidFill>
              </a:rPr>
              <a:t>Validated age, purchase amount, previous purchases, and categorical whitespace.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4F7FB"/>
                </a:solidFill>
              </a:rPr>
              <a:t>Removed promo_code_used after confirming it duplicated discount_applied.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280160" y="5669280"/>
            <a:ext cx="9601200" cy="594360"/>
          </a:xfrm>
          <a:prstGeom prst="roundRect">
            <a:avLst>
              <a:gd name="adj" fmla="val 7692"/>
            </a:avLst>
          </a:prstGeom>
          <a:solidFill>
            <a:srgbClr val="172131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444752" y="5833872"/>
            <a:ext cx="45720" cy="265176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5852160"/>
            <a:ext cx="9070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Outcome: all 3,900 records were preserved while completeness, consistency, and usability improved.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 — core sales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Order-based metrics use DISTINCT Order ID because the dataset is at order-line level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627632"/>
            <a:ext cx="54864" cy="1088136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23544" y="19476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$2.30M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3544" y="2560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$2,297,200.86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5304" y="1627632"/>
            <a:ext cx="54864" cy="1088136"/>
          </a:xfrm>
          <a:prstGeom prst="rect">
            <a:avLst/>
          </a:prstGeom>
          <a:solidFill>
            <a:srgbClr val="53D3D1"/>
          </a:solidFill>
          <a:ln w="12700">
            <a:solidFill>
              <a:srgbClr val="53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TOTAL ORDERS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58184" y="19476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5,009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58184" y="2560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unique Order IDs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9944" y="1627632"/>
            <a:ext cx="54864" cy="1088136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2824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AVG ORDER VALUE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92824" y="19476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$458.61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92824" y="2560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Revenue ÷ Orders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98280" y="1463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4584" y="1627632"/>
            <a:ext cx="54864" cy="10881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7464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UNITS SOLD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427464" y="19476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37,873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27464" y="2560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sum of Quantity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337560"/>
            <a:ext cx="5303520" cy="1965960"/>
          </a:xfrm>
          <a:prstGeom prst="roundRect">
            <a:avLst>
              <a:gd name="adj" fmla="val 325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4C3"/>
                </a:solidFill>
              </a:rPr>
              <a:t>Top category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005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</a:rPr>
              <a:t>Technology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68680" y="4645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D3D1"/>
                </a:solidFill>
              </a:rPr>
              <a:t>$836,154.03  •  36.40% of revenue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333756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4C3"/>
                </a:solidFill>
              </a:rPr>
              <a:t>Top revenue-generating product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3977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Canon imageCLASS 2200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Advanced Copier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46520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</a:rPr>
              <a:t>$61,599.82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momentum strengthened in the later years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Revenue dipped in 2015, then accelerated in 2016 and 2017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mnt/data/report_renders/pag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85216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417320"/>
            <a:ext cx="4846320" cy="4343400"/>
          </a:xfrm>
          <a:prstGeom prst="roundRect">
            <a:avLst>
              <a:gd name="adj" fmla="val 147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866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Year-over-year revenue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0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3"/>
                </a:solidFill>
              </a:rPr>
              <a:t>2014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23317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$484K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0" y="2331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B4C3"/>
                </a:solidFill>
              </a:rPr>
              <a:t>baseline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29535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3"/>
                </a:solidFill>
              </a:rPr>
              <a:t>2015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29535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$471K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2688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−2.83%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32320" y="3575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3"/>
                </a:solidFill>
              </a:rPr>
              <a:t>2016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55280" y="35753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$609K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26880" y="35753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</a:rPr>
              <a:t>+29.47%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32320" y="4197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3"/>
                </a:solidFill>
              </a:rPr>
              <a:t>2017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55280" y="41970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$733K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326880" y="41970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</a:rPr>
              <a:t>+20.36%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6600" y="5029200"/>
            <a:ext cx="4160520" cy="530352"/>
          </a:xfrm>
          <a:prstGeom prst="roundRect">
            <a:avLst>
              <a:gd name="adj" fmla="val 8621"/>
            </a:avLst>
          </a:prstGeom>
          <a:solidFill>
            <a:srgbClr val="172131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251192" y="5193792"/>
            <a:ext cx="4572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52360" y="5212080"/>
            <a:ext cx="3630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Peak month: November 2017 — ~$118,448 revenue, 261 orders, 1,840 units. The data shows the pattern, not its cause.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8368" y="58978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B8D"/>
                </a:solidFill>
              </a:rPr>
              <a:t>Report screenshot used as evidence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behavior — frequency and value are different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793 unique customers in the sales dataset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673352"/>
            <a:ext cx="54864" cy="996696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6916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REPEAT CUSTOMERS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23544" y="199339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98.49%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3544" y="25146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781 of 793 customers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673352"/>
            <a:ext cx="54864" cy="996696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6916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REPEAT REVENUE SHARE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36592" y="199339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99.78%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36592" y="25146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of observed revenue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11312" y="1508760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673352"/>
            <a:ext cx="54864" cy="996696"/>
          </a:xfrm>
          <a:prstGeom prst="rect">
            <a:avLst/>
          </a:prstGeom>
          <a:solidFill>
            <a:srgbClr val="53D3D1"/>
          </a:solidFill>
          <a:ln w="12700">
            <a:solidFill>
              <a:srgbClr val="53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1691640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4C3"/>
                </a:solidFill>
              </a:rPr>
              <a:t>CONSUMER SHARE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40496" y="1993392"/>
            <a:ext cx="2898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50.56%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40496" y="2514600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3"/>
                </a:solidFill>
              </a:rPr>
              <a:t>largest customer segment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4612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566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4C3"/>
                </a:solidFill>
              </a:rPr>
              <a:t>Highest-value customer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</a:rPr>
              <a:t>Sean Miller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6868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97"/>
                </a:solidFill>
              </a:rPr>
              <a:t>$25,043.05 revenue  •  5 orders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24612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37960" y="3566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4C3"/>
                </a:solidFill>
              </a:rPr>
              <a:t>Most frequent customer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</a:rPr>
              <a:t>Emily Phan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3796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D3D1"/>
                </a:solidFill>
              </a:rPr>
              <a:t>17 orders  •  $5,478.06 revenue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08760" y="5669280"/>
            <a:ext cx="9144000" cy="566928"/>
          </a:xfrm>
          <a:prstGeom prst="roundRect">
            <a:avLst>
              <a:gd name="adj" fmla="val 8065"/>
            </a:avLst>
          </a:prstGeom>
          <a:solidFill>
            <a:srgbClr val="172131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73352" y="5833872"/>
            <a:ext cx="45720" cy="2377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74520" y="5852160"/>
            <a:ext cx="8613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Implication: customer value should be evaluated using both purchase frequency and monetary contribution.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story — category and customer mix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Screenshots from the final report visual section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mnt/data/report_renders/pag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39496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371600"/>
            <a:ext cx="544068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1" descr="/mnt/data/report_renders/page-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4160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5806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D3D1"/>
                </a:solidFill>
              </a:rPr>
              <a:t>Technology leads revenue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063240" y="5806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C3"/>
                </a:solidFill>
              </a:rPr>
              <a:t>$836K • 36.40% share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46520" y="5806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Consumer is the largest segment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46920" y="5806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C3"/>
                </a:solidFill>
              </a:rPr>
              <a:t>50.56% revenue share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Geography and product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Revenue leadership and unit-volume leadership are not the same thing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7150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mnt/data/report_renders/pag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62356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417320"/>
            <a:ext cx="5074920" cy="1874520"/>
          </a:xfrm>
          <a:prstGeom prst="roundRect">
            <a:avLst>
              <a:gd name="adj" fmla="val 3415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4C3"/>
                </a:solidFill>
              </a:rPr>
              <a:t>Regional leader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0" y="20848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</a:rPr>
              <a:t>WEST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</a:rPr>
              <a:t>$725,458  •  31.58%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37960" y="3611880"/>
            <a:ext cx="5074920" cy="2103120"/>
          </a:xfrm>
          <a:prstGeom prst="roundRect">
            <a:avLst>
              <a:gd name="adj" fmla="val 3043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4C3"/>
                </a:solidFill>
              </a:rPr>
              <a:t>Product contrast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0" y="4279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Staples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58000" y="4681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D3D1"/>
                </a:solidFill>
              </a:rPr>
              <a:t>215 units • highest volume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0" y="427939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Canon imageCLASS 2200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0" y="468172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DC97"/>
                </a:solidFill>
              </a:rPr>
              <a:t>$61.6K • highest revenue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0" y="5074920"/>
            <a:ext cx="4343400" cy="438912"/>
          </a:xfrm>
          <a:prstGeom prst="roundRect">
            <a:avLst>
              <a:gd name="adj" fmla="val 10417"/>
            </a:avLst>
          </a:prstGeom>
          <a:solidFill>
            <a:srgbClr val="172131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022592" y="5239512"/>
            <a:ext cx="457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3760" y="5257800"/>
            <a:ext cx="3813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Inventory and merchandising decisions should consider both unit demand and monetary contribution.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analysis tells 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Eight findings distilled into four business themes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764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B4C3"/>
                </a:solidFill>
              </a:rPr>
              <a:t>Growth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$2.30M revenue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C3"/>
                </a:solidFill>
              </a:rPr>
              <a:t>Later-year momentum strengthened; Nov 2017 was the peak month.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28800"/>
            <a:ext cx="384048" cy="384048"/>
          </a:xfrm>
          <a:prstGeom prst="ellipse">
            <a:avLst/>
          </a:prstGeom>
          <a:solidFill>
            <a:srgbClr val="53D3D1"/>
          </a:solidFill>
          <a:ln w="12700">
            <a:solidFill>
              <a:srgbClr val="53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764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B4C3"/>
                </a:solidFill>
              </a:rPr>
              <a:t>Portfolio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1305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Technology leads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40880" y="2697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C3"/>
                </a:solidFill>
              </a:rPr>
              <a:t>But all three categories contribute materially to revenue.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60520"/>
            <a:ext cx="384048" cy="38404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B4C3"/>
                </a:solidFill>
              </a:rPr>
              <a:t>Customers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4462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Repeat behavior dominates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5029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C3"/>
                </a:solidFill>
              </a:rPr>
              <a:t>98.49% repeat customers generated 99.78% of revenue.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60520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B4C3"/>
                </a:solidFill>
              </a:rPr>
              <a:t>Market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West leads regionally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5029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4C3"/>
                </a:solidFill>
              </a:rPr>
              <a:t>West contributed 31.58%; East followed at 29.55%.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08760" y="5989320"/>
            <a:ext cx="9144000" cy="457200"/>
          </a:xfrm>
          <a:prstGeom prst="roundRect">
            <a:avLst>
              <a:gd name="adj" fmla="val 10000"/>
            </a:avLst>
          </a:prstGeom>
          <a:solidFill>
            <a:srgbClr val="172131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73352" y="6153912"/>
            <a:ext cx="45720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6172200"/>
            <a:ext cx="8613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</a:rPr>
              <a:t>The dataset supports these descriptive findings; it does not by itself establish why the patterns occurred.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actions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Potential actions derived from the observed patterns — not causal conclusions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18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Retention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98424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9B4C3"/>
                </a:solidFill>
              </a:rPr>
              <a:t>Evaluate loyalty and repeat-purchase initiatives while monitoring acquisition.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459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0" y="1618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Diagnose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0" y="198424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9B4C3"/>
                </a:solidFill>
              </a:rPr>
              <a:t>Investigate promotions, product mix and customer activity behind 2016–2017 strength.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172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Dual product lens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53872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9B4C3"/>
                </a:solidFill>
              </a:rPr>
              <a:t>Use both revenue and unit volume in inventory and merchandising decisions.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309360" y="297180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3172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Balanced portfolio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353872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9B4C3"/>
                </a:solidFill>
              </a:rPr>
              <a:t>Support Technology leadership without neglecting Furniture and Office Supplies.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754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727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Regional deep dive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50932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9B4C3"/>
                </a:solidFill>
              </a:rPr>
              <a:t>Compare profitability, customer density and product mix across regions.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309360" y="452628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4754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4727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Segment planning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50932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9B4C3"/>
                </a:solidFill>
              </a:rPr>
              <a:t>Tailor engagement by segment while preserving Corporate and Home Office focus.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14400" y="62179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A261"/>
                </a:solidFill>
              </a:rPr>
              <a:t>Decision principle: validate the “why” with additional operational evidence before acting on a causal explanation.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— what to remember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A complete Week 1 workflow from raw data to business communication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720840" cy="4480560"/>
          </a:xfrm>
          <a:prstGeom prst="roundRect">
            <a:avLst>
              <a:gd name="adj" fmla="val 1429"/>
            </a:avLst>
          </a:prstGeom>
          <a:solidFill>
            <a:srgbClr val="121925"/>
          </a:solidFill>
          <a:ln w="12700">
            <a:solidFill>
              <a:srgbClr val="26344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Three takeaways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58978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4F7FB"/>
                </a:solidFill>
              </a:rPr>
              <a:t>Data quality decisions were documented and validated before analysis.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4F7FB"/>
                </a:solidFill>
              </a:rPr>
              <a:t>Correct order-level logic produced reliable KPIs and customer insights.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4F7FB"/>
                </a:solidFill>
              </a:rPr>
              <a:t>The Power BI dashboard translated the analysis into a concise visual story.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Key limitation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4754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4C3"/>
                </a:solidFill>
              </a:rPr>
              <a:t>Task 1 and Tasks 2/3 use separate datasets; sales patterns are descriptive and do not establish causality.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26680" y="1463040"/>
            <a:ext cx="3840480" cy="4480560"/>
          </a:xfrm>
          <a:prstGeom prst="roundRect">
            <a:avLst>
              <a:gd name="adj" fmla="val 1667"/>
            </a:avLst>
          </a:prstGeom>
          <a:solidFill>
            <a:srgbClr val="101A2A"/>
          </a:solidFill>
          <a:ln w="15240">
            <a:solidFill>
              <a:srgbClr val="2F81F7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7FB"/>
                </a:solidFill>
              </a:rPr>
              <a:t>Q&amp;A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13816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</a:rPr>
              <a:t>$2.30M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38160" y="3730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3"/>
                </a:solidFill>
              </a:rPr>
              <a:t>revenue analyzed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4251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3D3D1"/>
                </a:solidFill>
              </a:rPr>
              <a:t>5,009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3816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3"/>
                </a:solidFill>
              </a:rPr>
              <a:t>unique orders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WeIntern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Cleaning, Sales Analysis and Visualization</dc:title>
  <dc:subject>Data Science Internship Week 1</dc:subject>
  <dc:creator>OpenAI</dc:creator>
  <cp:lastModifiedBy>OpenAI</cp:lastModifiedBy>
  <cp:revision>1</cp:revision>
  <dcterms:created xsi:type="dcterms:W3CDTF">2026-10-01T16:51:28Z</dcterms:created>
  <dcterms:modified xsi:type="dcterms:W3CDTF">2026-10-01T16:51:28Z</dcterms:modified>
</cp:coreProperties>
</file>